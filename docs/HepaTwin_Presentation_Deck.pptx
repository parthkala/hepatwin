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HepaTwin</a:t>
            </a:r>
          </a:p>
          <a:p>
            <a:pPr>
              <a:spcBef>
                <a:spcPts val="1400"/>
              </a:spcBef>
              <a:defRPr sz="2000" b="1">
                <a:solidFill>
                  <a:srgbClr val="E36414"/>
                </a:solidFill>
                <a:latin typeface="Arial"/>
              </a:defRPr>
            </a:pPr>
            <a:r>
              <a:t>Automated liver-fibrosis screening and triage for primary care in India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Arial"/>
              </a:defRPr>
            </a:pPr>
            <a:r>
              <a:t>From a routine CBC + LFT to a referral decision 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2560320" cy="502920"/>
          </a:xfrm>
          <a:prstGeom prst="round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LIVE hepatwin.vercel.app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Team pr3650882 | Graphic Era (Deemed to be University), Dehradun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8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873C"/>
                </a:solidFill>
                <a:latin typeface="Arial"/>
              </a:defRPr>
            </a:pPr>
            <a:r>
              <a:t>NORMAL / LOW RISK (F0-F1)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FIB-4: 0.74, APRI: 0.28, Platelets: 235k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AST, ALT, Platelets, TBIL evaluated against ICMR cutoffs.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291840"/>
            <a:ext cx="457200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8102E"/>
                </a:solidFill>
                <a:latin typeface="Arial"/>
              </a:defRPr>
            </a:pPr>
            <a:r>
              <a:t>CRITICAL / ADVANCED FIBROSIS HAZARD (F3-F4)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FIB-4: 3.77, APRI: 2.33, Platelets: 118k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AST, ALT, Platelets, TBIL evaluated against ICMR cutoffs.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Missed where patients first appear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Fibrosis is silent, and the first doctor rarely has a way to flag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D77"/>
                </a:solidFill>
                <a:latin typeface="Arial"/>
              </a:defRPr>
            </a:pPr>
            <a:r>
              <a:t>50M+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Indians live with chronic hepatitis B or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D77"/>
                </a:solidFill>
                <a:latin typeface="Arial"/>
              </a:defRPr>
            </a:pPr>
            <a:r>
              <a:t>1 in 3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urban adults has fatty liver disease (NAFLD)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D77"/>
                </a:solidFill>
                <a:latin typeface="Arial"/>
              </a:defRPr>
            </a:pPr>
            <a:r>
              <a:t>Silent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no pain until cirrhosis: ascites, varices, encephalopathy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8102E"/>
                </a:solidFill>
                <a:latin typeface="Arial"/>
              </a:defRPr>
            </a:pPr>
            <a:r>
              <a:t>Routine labs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CBC and LFT are already ordered, but fibrosis risk is rarely calculated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49039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8102E"/>
                </a:solidFill>
                <a:latin typeface="Arial"/>
              </a:defRPr>
            </a:pPr>
            <a:r>
              <a:t>Access gap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elastography and hepatology are concentrated in metro centres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49039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8102E"/>
                </a:solidFill>
                <a:latin typeface="Arial"/>
              </a:defRPr>
            </a:pPr>
            <a:r>
              <a:t>No triage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Tier-2/3 clinics lack a simple rule for who needs referral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The gap is not data. It is a cheap, automatic way to act on data already in the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Built for primary care, Tier-2/3 clinics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One engine, three people who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Primary care physician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Enter four values from a routine report. Get a risk tier and the next step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286000"/>
            <a:ext cx="640080" cy="640080"/>
          </a:xfrm>
          <a:prstGeom prst="ellipse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Clinic or diagnostic lab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Auto-flag fibrosis risk on every CBC + LFT report, with no new equipment.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286000"/>
            <a:ext cx="640080" cy="64008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08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Referral hepatologist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Receives prioritised, explained referrals instead of undifferentiated 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Automated screening and triage. Decision support, never a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Four routine values in, a decision out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Validated, published scores first. Machine learning is a labelled second opinion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D77"/>
                </a:solidFill>
                <a:latin typeface="Arial"/>
              </a:defRPr>
            </a:pPr>
            <a:r>
              <a:t>1 Inputs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Age, AST, ALT, platelets from a standard CBC + LFT. Optional: albumin, BMI, diabetes.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D77"/>
                </a:solidFill>
                <a:latin typeface="Arial"/>
              </a:defRPr>
            </a:pPr>
            <a:r>
              <a:t>2 Validated scores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FIB-4 and APRI, with formulas visible. NAFLD Fibrosis Score when extra inputs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D77"/>
                </a:solidFill>
                <a:latin typeface="Arial"/>
              </a:defRPr>
            </a:pPr>
            <a:r>
              <a:t>3 Triage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Low, indeterminate or high tier with a plain-language next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72865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36414"/>
                </a:solidFill>
                <a:latin typeface="Arial"/>
              </a:defRPr>
            </a:pPr>
            <a:r>
              <a:t>FIB-4 = (Age x AST) / (Platelets x sqrt(ALT))</a:t>
            </a:r>
          </a:p>
          <a:p>
            <a:pPr>
              <a:spcBef>
                <a:spcPts val="400"/>
              </a:spcBef>
              <a:defRPr sz="1300" b="1">
                <a:solidFill>
                  <a:srgbClr val="E36414"/>
                </a:solidFill>
                <a:latin typeface="Arial"/>
              </a:defRPr>
            </a:pPr>
            <a:r>
              <a:t>APRI = (AST / upper limit of normal) / Platelets x 100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Platelets in 10^9/L. Published, widely used formulas: no black box in the first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Three tiers, three clear next steps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Published FIB-4 thresholds drive the tier. Local protocol always governs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2834640" cy="365760"/>
          </a:xfrm>
          <a:prstGeom prst="roundRect">
            <a:avLst/>
          </a:prstGeom>
          <a:solidFill>
            <a:srgbClr val="008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FIB-4 below 1.3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Manage in clinic. Lifestyle and metabolic counselling, periodic repeat labs.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283464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INDETERMINATE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FIB-4 1.3 to 2.67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Second-line test: elastography or ELF at the nearest centre. Recheck labs.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286000"/>
            <a:ext cx="2834640" cy="36576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FIB-4 above 2.67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Refer to hepatology. Consider elastography and variceal screening.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Age 65 and over uses the lower 2.0 cutoff. APRI is shown alongside for concordance.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What the primary care doctor sees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One screen: tier, reason, recommended action, and the labs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583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D77"/>
                </a:solidFill>
                <a:latin typeface="Arial"/>
              </a:defRPr>
            </a:pPr>
            <a:r>
              <a:t>LIVE CLINICAL WORKSTATION SCREEN</a:t>
            </a:r>
          </a:p>
          <a:p>
            <a:pPr>
              <a:spcBef>
                <a:spcPts val="400"/>
              </a:spcBef>
              <a:defRPr sz="950">
                <a:solidFill>
                  <a:srgbClr val="C8102E"/>
                </a:solidFill>
                <a:latin typeface="Arial"/>
              </a:defRPr>
            </a:pPr>
            <a:r>
              <a:t>• Patient 1: Vikram Malhotra (45M) - AST 110, ALT 124, PLT 118 -&gt; FIB-4 3.77 [HIGH RISK F3-F4]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  Action: Urgent elastography referral, upper endoscopy for variceal screening.</a:t>
            </a:r>
          </a:p>
          <a:p>
            <a:pPr>
              <a:spcBef>
                <a:spcPts val="400"/>
              </a:spcBef>
              <a:defRPr sz="950">
                <a:solidFill>
                  <a:srgbClr val="00873C"/>
                </a:solidFill>
                <a:latin typeface="Arial"/>
              </a:defRPr>
            </a:pPr>
            <a:r>
              <a:t>• Patient 2: Aakash Deshmukh (34M) - AST 31, ALT 36, PLT 235 -&gt; FIB-4 0.74 [NORMAL F0]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  Action: Stable suppression, continue annual ultrasound surveillance.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Interactive: Dynamic Couinaud Liver Anatomy, TreeSHAP feature importance, What-If simulator.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D77"/>
                </a:solidFill>
                <a:latin typeface="Arial"/>
              </a:defRPr>
            </a:pPr>
            <a:r>
              <a:t>Tier and action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Plain-language next step in the same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20040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D77"/>
                </a:solidFill>
                <a:latin typeface="Arial"/>
              </a:defRPr>
            </a:pPr>
            <a:r>
              <a:t>Labs in context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Each value against its reference range and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38912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D77"/>
                </a:solidFill>
                <a:latin typeface="Arial"/>
              </a:defRPr>
            </a:pPr>
            <a:r>
              <a:t>Visible formula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FIB-4 and APRI one hover away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Explainability from real SHAP values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Per-patient attributions computed server-side, not hard-coded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754880" cy="54864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Lab values (identifiers masked)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4754880" cy="54864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FastAPI endpoint, Pydantic-validated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4754880" cy="54864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Tree-ensemble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754880" cy="54864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shap.TreeExplainer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4754880" cy="54864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Top contributing factors in the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011680"/>
            <a:ext cx="5486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D77"/>
                </a:solidFill>
                <a:latin typeface="Arial"/>
              </a:defRPr>
            </a:pPr>
            <a:r>
              <a:t>Why this is credible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Transparent first: FIB-4 and APRI are the primary, auditable score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SHAP explains the ML second opinion for each individual patient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Same inputs always give the same attributions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Attributions explain the model, not biology: no causal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Trends from the patient's own labs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Serial FIB-4 from dated lab panels, not hand-set drift sliders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486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D77"/>
                </a:solidFill>
                <a:latin typeface="Arial"/>
              </a:defRPr>
            </a:pPr>
            <a:r>
              <a:t>SERIAL LONGITUDINAL TRAJECTORY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Visit 1 (Baseline - 12m ago):</a:t>
            </a:r>
          </a:p>
          <a:p>
            <a:pPr>
              <a:spcBef>
                <a:spcPts val="600"/>
              </a:spcBef>
              <a:defRPr sz="950">
                <a:solidFill>
                  <a:srgbClr val="D97706"/>
                </a:solidFill>
                <a:latin typeface="Arial"/>
              </a:defRPr>
            </a:pPr>
            <a:r>
              <a:t>AST 78 U/L, ALT 92 U/L, Platelets 142 x 10^9/L -&gt; FIB-4 = 2.58 (Indeterminate Zone)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Visit 2 (Current - Month 0):</a:t>
            </a:r>
          </a:p>
          <a:p>
            <a:pPr>
              <a:spcBef>
                <a:spcPts val="600"/>
              </a:spcBef>
              <a:defRPr sz="950">
                <a:solidFill>
                  <a:srgbClr val="C8102E"/>
                </a:solidFill>
                <a:latin typeface="Arial"/>
              </a:defRPr>
            </a:pPr>
            <a:r>
              <a:t>AST 110 U/L, ALT 124 U/L, Platelets 118 x 10^9/L -&gt; FIB-4 = 3.77 (Breached 2.67 Cutoff)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11680"/>
            <a:ext cx="4846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D77"/>
                </a:solidFill>
                <a:latin typeface="Arial"/>
              </a:defRPr>
            </a:pPr>
            <a:r>
              <a:t>From the app's own data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Baseline AST 78, ALT 92, platelets 142: FIB-4 2.58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Current AST 110, ALT 124, platelets 118: FIB-4 3.77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Crosses the 2.67 high-risk cutoff: escalate immediately to hepatology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Next: fit validated progression models on real serial cohorts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Validation: how we earn trust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We make no accuracy claim today. Here is the plan that would justify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Reference standard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Transient elastography (FibroScan) and biopsy where available, on real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What we report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Sensitivity, specificity, PPV and NPV at the referral thresholds, plus calibration, against FIB-4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28600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Where we test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Retrospective Indian clinic and lab data first, then a prospective pilot across more than one site.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728655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Today's demo runs on a synthetic cohort to show the workflow. It is not clinical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Privacy and interoperability by design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Built to fit into real clinics and national health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77"/>
                </a:solidFill>
                <a:latin typeface="Arial"/>
              </a:defRPr>
            </a:pPr>
            <a:r>
              <a:t>Role-based sign-in &amp; Identity Gateway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Clinician Workstation Mode: Access full triage, Couinaud segmentation, and prescription matrix.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Patient Portal Mode: Patient awareness guide, destigmatization center, Indian diet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D77"/>
                </a:solidFill>
                <a:latin typeface="Arial"/>
              </a:defRPr>
            </a:pPr>
            <a:r>
              <a:t>DPDP 2023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Client-side masking turns names and IDs into hashes before transmission.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D77"/>
                </a:solidFill>
                <a:latin typeface="Arial"/>
              </a:defRPr>
            </a:pPr>
            <a:r>
              <a:t>ABDM and FHIR R4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ABHA IDs, FHIR fields and consent artifacts ready for national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8912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D77"/>
                </a:solidFill>
                <a:latin typeface="Arial"/>
              </a:defRPr>
            </a:pPr>
            <a:r>
              <a:t>Engineering checks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Vitest 11 of 11 passing, strict TypeScript with 0 compilation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Pilot plan and what we will measure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Targets to measure in Tier-2/3 clinics, not claims we are making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09728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36414"/>
                </a:solidFill>
                <a:latin typeface="Arial"/>
              </a:defRPr>
            </a:pPr>
            <a:r>
              <a:t>Phase 1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Retrospective validation on real labelled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109728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36414"/>
                </a:solidFill>
                <a:latin typeface="Arial"/>
              </a:defRPr>
            </a:pPr>
            <a:r>
              <a:t>Phase 2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Shadow-mode pilot: flag risk, doctors decide as usual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109728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36414"/>
                </a:solidFill>
                <a:latin typeface="Arial"/>
              </a:defRPr>
            </a:pPr>
            <a:r>
              <a:t>Phase 3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Live triage in clinics and diagnostic labs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D77"/>
                </a:solidFill>
                <a:latin typeface="Arial"/>
              </a:defRPr>
            </a:pPr>
            <a:r>
              <a:t>Coverage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share of routine CBC + LFT reports with a fibrosis risk computed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D77"/>
                </a:solidFill>
                <a:latin typeface="Arial"/>
              </a:defRPr>
            </a:pPr>
            <a:r>
              <a:t>Referral quality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share of referred patients who truly need specialist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D77"/>
                </a:solidFill>
                <a:latin typeface="Arial"/>
              </a:defRPr>
            </a:pPr>
            <a:r>
              <a:t>Avoided referrals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low-tier patients safely managed in primary 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D77"/>
                </a:solidFill>
                <a:latin typeface="Arial"/>
              </a:defRPr>
            </a:pPr>
            <a:r>
              <a:t>Time to specialist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days from high-tier flag to hepatology visit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Catch fibrosis at the first blood test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Low-cost screening and triage for primary care and Tier-2/3 clinics across India.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HepaTwin | Happiest Health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36414"/>
                </a:solidFill>
                <a:latin typeface="Arial"/>
              </a:defRPr>
            </a:pPr>
            <a:r>
              <a:t>Routine labs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No new equipment, just CBC + LFT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36414"/>
                </a:solidFill>
                <a:latin typeface="Arial"/>
              </a:defRPr>
            </a:pPr>
            <a:r>
              <a:t>Transparent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Published formulas plus real SHAP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3832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36414"/>
                </a:solidFill>
                <a:latin typeface="Arial"/>
              </a:defRPr>
            </a:pPr>
            <a:r>
              <a:t>Right referral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Elastography and hepatology for those who need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Try it now: hepatwin.vercel.app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Code: github.com/Parthkala/Repository1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Decision support for screening and triage. Not an approved medical device. Demo data is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