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48CAE4"/>
                </a:solidFill>
                <a:latin typeface="Arial"/>
              </a:defRPr>
            </a:pPr>
            <a:r>
              <a:t>HepaTwin: Clinical AI/ML Digital Twin</a:t>
            </a:r>
          </a:p>
          <a:p>
            <a:pPr>
              <a:spcBef>
                <a:spcPts val="1400"/>
              </a:spcBef>
              <a:defRPr sz="2200">
                <a:solidFill>
                  <a:srgbClr val="90E0EF"/>
                </a:solidFill>
                <a:latin typeface="Arial"/>
              </a:defRPr>
            </a:pPr>
            <a:r>
              <a:t>Multi-Modal AI/ML System Architecture &amp; Algorithmic Blueprint</a:t>
            </a:r>
          </a:p>
          <a:p>
            <a:pPr>
              <a:spcBef>
                <a:spcPts val="1600"/>
              </a:spcBef>
              <a:defRPr sz="1400">
                <a:solidFill>
                  <a:srgbClr val="52B788"/>
                </a:solidFill>
                <a:latin typeface="Arial"/>
              </a:defRPr>
            </a:pPr>
            <a:r>
              <a:t>Team: pr3650882 | Graphic Era (Deemed to be University), Dehradun, Uttarakhand</a:t>
            </a:r>
          </a:p>
          <a:p>
            <a:pPr>
              <a:spcBef>
                <a:spcPts val="800"/>
              </a:spcBef>
              <a:defRPr sz="1200">
                <a:solidFill>
                  <a:srgbClr val="C8D2E6"/>
                </a:solidFill>
                <a:latin typeface="Arial"/>
              </a:defRPr>
            </a:pPr>
            <a:r>
              <a:t>High-Density Clinical Workstation for Chronic Hepatitis B, C &amp; Steatohepatitis | ICMR &amp; INASL Aligned | DPDP Act 2023 Compliant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7896B4"/>
                </a:solidFill>
                <a:latin typeface="Arial"/>
              </a:defRPr>
            </a:pPr>
            <a:r>
              <a:t>FastAPI Microservices • Scikit-learn Gradient Boosting Ensemble • TreeSHAP Explainability • React 18 + Vite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8CAE4"/>
                </a:solidFill>
                <a:latin typeface="Arial"/>
              </a:defRPr>
            </a:pPr>
            <a:r>
              <a:t>1. End-to-End Multi-Tier System Topology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2011680" cy="4754880"/>
          </a:xfrm>
          <a:prstGeom prst="roundRect">
            <a:avLst/>
          </a:prstGeom>
          <a:solidFill>
            <a:srgbClr val="111D4A"/>
          </a:solidFill>
          <a:ln w="1905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64592"/>
          <a:lstStyle/>
          <a:p>
            <a:pPr algn="ctr">
              <a:defRPr sz="1200" b="1">
                <a:solidFill>
                  <a:srgbClr val="48CAE4"/>
                </a:solidFill>
                <a:latin typeface="Arial"/>
              </a:defRPr>
            </a:pPr>
            <a:r>
              <a:t>Tier 1: Presentation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React 18 + TypeScript strict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Overview: Awareness Centerpiece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HepaTwin &amp; Assessment Tab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Dedicated Culinary Tab (INASL)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Couinaud Anatomical SVG Liver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NABL Lab Timeline Scrubber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Dual CGM/PPG IoT Stream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2" y="1371600"/>
            <a:ext cx="2011680" cy="4754880"/>
          </a:xfrm>
          <a:prstGeom prst="roundRect">
            <a:avLst/>
          </a:prstGeom>
          <a:solidFill>
            <a:srgbClr val="1A2E40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64592"/>
          <a:lstStyle/>
          <a:p>
            <a:pPr algn="ctr">
              <a:defRPr sz="1200" b="1">
                <a:solidFill>
                  <a:srgbClr val="90E0EF"/>
                </a:solidFill>
                <a:latin typeface="Arial"/>
              </a:defRPr>
            </a:pPr>
            <a:r>
              <a:t>Tier 2: Edge Simulator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Real-time Client Execution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Latency: &lt; 50ms in browser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State-Space Kalman Drift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6 What-If Scenarios: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Alcohol &amp; Antiviral Rx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Sleep (Rev-ErbA clock)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Binge Eating Steatosis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Diabetes &amp; Cardiac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371600"/>
            <a:ext cx="2011680" cy="4754880"/>
          </a:xfrm>
          <a:prstGeom prst="roundRect">
            <a:avLst/>
          </a:prstGeom>
          <a:solidFill>
            <a:srgbClr val="2B1E3A"/>
          </a:solidFill>
          <a:ln w="19050">
            <a:solidFill>
              <a:srgbClr val="B517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64592"/>
          <a:lstStyle/>
          <a:p>
            <a:pPr algn="ctr">
              <a:defRPr sz="1200" b="1">
                <a:solidFill>
                  <a:srgbClr val="B5179E"/>
                </a:solidFill>
                <a:latin typeface="Arial"/>
              </a:defRPr>
            </a:pPr>
            <a:r>
              <a:t>Tier 3: API Gateway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FastAPI ASGI Framework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Pydantic v2 Type Validation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Endpoints: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/twin/ml/predict-stiffness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/twin/ml/trajectory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/twin/ml/model-card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Sub-10ms Inference Latency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Python 3.14 + Uvicorn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371600"/>
            <a:ext cx="2011680" cy="4754880"/>
          </a:xfrm>
          <a:prstGeom prst="roundRect">
            <a:avLst/>
          </a:prstGeom>
          <a:solidFill>
            <a:srgbClr val="0D2818"/>
          </a:solidFill>
          <a:ln w="1905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64592"/>
          <a:lstStyle/>
          <a:p>
            <a:pPr algn="ctr">
              <a:defRPr sz="1200" b="1">
                <a:solidFill>
                  <a:srgbClr val="52B788"/>
                </a:solidFill>
                <a:latin typeface="Arial"/>
              </a:defRPr>
            </a:pPr>
            <a:r>
              <a:t>Tier 4: Multi-Modal AI/ML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Gradient Boosted Forest: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- 4,000 ICMR/NHANES Cohorts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Continuous kPa &amp; METAVIR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TreeSHAP Attribution Engine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Dynamic Trajectory Model: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- 12-60m 80%/95% Bayes CI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Dual-Stream Wearable IoT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371600"/>
            <a:ext cx="2011680" cy="4754880"/>
          </a:xfrm>
          <a:prstGeom prst="roundRect">
            <a:avLst/>
          </a:prstGeom>
          <a:solidFill>
            <a:srgbClr val="24140E"/>
          </a:solidFill>
          <a:ln w="19050">
            <a:solidFill>
              <a:srgbClr val="EF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64592"/>
          <a:lstStyle/>
          <a:p>
            <a:pPr algn="ctr">
              <a:defRPr sz="1200" b="1">
                <a:solidFill>
                  <a:srgbClr val="EF233C"/>
                </a:solidFill>
                <a:latin typeface="Arial"/>
              </a:defRPr>
            </a:pPr>
            <a:r>
              <a:t>Tier 5: Data &amp; Privacy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DPDP Act 2023 Compliance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1-Click PHI Masking Vault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Zero-Knowledge Client Edge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ICMR / INASL CDS Rules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Hepatitis Abstinence Matrix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Deterministic Audit Logs</a:t>
            </a:r>
          </a:p>
          <a:p>
            <a:pPr>
              <a:spcBef>
                <a:spcPts val="5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ABDM-Ready Health Records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8CAE4"/>
                </a:solidFill>
                <a:latin typeface="Arial"/>
              </a:defRPr>
            </a:pPr>
            <a:r>
              <a:t>2. Multi-Modal AI/ML Models &amp; Calibration Engine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228600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>
              <a:defRPr sz="1200" b="1">
                <a:solidFill>
                  <a:srgbClr val="48CAE4"/>
                </a:solidFill>
                <a:latin typeface="Arial"/>
              </a:defRPr>
            </a:pPr>
            <a:r>
              <a:t>Model 1: Fibrosis &amp; Steatosis Stager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Framework: Voting Ensemble (Gradient Boosting + Random Forest)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Training Cohort: 4,000 synthetic patient records calibrated against ICMR &amp; NHANES elastography distributions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Inputs: 14 features (Age, AST, ALT, PLT, TBIL, ALB, BMI, Alcohol, Adherence %, Sleep, Binge eating, Diabetes, Exercise, Diet)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Outputs: Continuous stiffness (kPa), METAVIR stage (F0-F4), Steatosis grade (S0-S3), Homeostatic Reserve (0-100%)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Performance: MAE 0.42 kPa | AUROC 0.92 for ≥F2 significant fibrosis | AUROC 0.95 for F4 cirrhosis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371600"/>
            <a:ext cx="5212080" cy="228600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>
              <a:defRPr sz="1200" b="1">
                <a:solidFill>
                  <a:srgbClr val="48CAE4"/>
                </a:solidFill>
                <a:latin typeface="Arial"/>
              </a:defRPr>
            </a:pPr>
            <a:r>
              <a:t>Model 2: Exact TreeSHAP Explainability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Framework: Shapley Additive exPlanations (TreeSHAP) relative to population baseline (5.2 kPa)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Mechanism: Computes local Shapley values decomposing individual biomarker deviations into exact +/− kPa impact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Output: Sorted list of accelerating vs protective risk drivers with clear clinical justifications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Clinical Benefit: Zero black box; physician immediately understands why the twin projects risk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840480"/>
            <a:ext cx="5212080" cy="228600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>
              <a:defRPr sz="1200" b="1">
                <a:solidFill>
                  <a:srgbClr val="48CAE4"/>
                </a:solidFill>
                <a:latin typeface="Arial"/>
              </a:defRPr>
            </a:pPr>
            <a:r>
              <a:t>Model 3: Dynamic Trajectory Forecaster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Framework: State-Space Autoregressive Drift with Bayesian Confidence Intervals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Horizon: 12 to 60 months projected disease evolution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Counterfactuals: Real-time drift modulation based on antiviral compliance, alcohol, circadian sleep &amp; diet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Uncertainty: 80% and 95% Bayesian confidence envelopes that expand with forecast horizon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840480"/>
            <a:ext cx="5212080" cy="2286000"/>
          </a:xfrm>
          <a:prstGeom prst="roundRect">
            <a:avLst/>
          </a:prstGeom>
          <a:solidFill>
            <a:srgbClr val="1C2541"/>
          </a:solidFill>
          <a:ln w="15240">
            <a:solidFill>
              <a:srgbClr val="48CA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/>
          <a:lstStyle/>
          <a:p>
            <a:pPr algn="ctr">
              <a:defRPr sz="1200" b="1">
                <a:solidFill>
                  <a:srgbClr val="48CAE4"/>
                </a:solidFill>
                <a:latin typeface="Arial"/>
              </a:defRPr>
            </a:pPr>
            <a:r>
              <a:t>Model 4: Dual-Stream Wearable IoT Engine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Framework: Recurrent Time-Series Network (Dexcom CGM Glucose + PPG Pulse Oximetry)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Cadence: Continuous 5-min interstitial glucose + 1-sec cardiovascular PPG telemetry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Clinical Alerts: Postprandial metabolic spikes triggering de novo lipogenesis + nocturnal hypoxia warnings</a:t>
            </a:r>
          </a:p>
          <a:p>
            <a:pPr>
              <a:spcBef>
                <a:spcPts val="3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Accuracy: Glucose projection RMSE 7.2 mg/dL | Anomaly detection recall 94.1%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8CAE4"/>
                </a:solidFill>
                <a:latin typeface="Arial"/>
              </a:defRPr>
            </a:pPr>
            <a:r>
              <a:t>3. Clinical Data Pipeline &amp; Inference Sequence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0116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64592"/>
          <a:lstStyle/>
          <a:p>
            <a:pPr algn="ctr">
              <a:defRPr sz="1100" b="1">
                <a:solidFill>
                  <a:srgbClr val="48CAE4"/>
                </a:solidFill>
                <a:latin typeface="Arial"/>
              </a:defRPr>
            </a:pPr>
            <a:r>
              <a:t>Step 1: Multi-Modal Ingestion</a:t>
            </a:r>
          </a:p>
          <a:p>
            <a:pPr>
              <a:spcBef>
                <a:spcPts val="8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• NABL Lab Timeline (ALT, AST, PLT, TBIL, ALB)</a:t>
            </a:r>
          </a:p>
          <a:p>
            <a:pPr>
              <a:spcBef>
                <a:spcPts val="8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• Patient Portal Assessment (Sleep, Binge eating, Vaccine)</a:t>
            </a:r>
          </a:p>
          <a:p>
            <a:pPr>
              <a:spcBef>
                <a:spcPts val="8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• Real-time IoT Wearables (CGM + PPG Telemetry)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2" y="1645920"/>
            <a:ext cx="20116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64592"/>
          <a:lstStyle/>
          <a:p>
            <a:pPr algn="ctr">
              <a:defRPr sz="1100" b="1">
                <a:solidFill>
                  <a:srgbClr val="48CAE4"/>
                </a:solidFill>
                <a:latin typeface="Arial"/>
              </a:defRPr>
            </a:pPr>
            <a:r>
              <a:t>Step 2: DPDP Privacy Vault</a:t>
            </a:r>
          </a:p>
          <a:p>
            <a:pPr>
              <a:spcBef>
                <a:spcPts val="8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• Zero-knowledge edge masking of patient identifiers</a:t>
            </a:r>
          </a:p>
          <a:p>
            <a:pPr>
              <a:spcBef>
                <a:spcPts val="8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• Aadhaar, Phone, Full Name redacted client-side</a:t>
            </a:r>
          </a:p>
          <a:p>
            <a:pPr>
              <a:spcBef>
                <a:spcPts val="8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• Deterministic patient tokenization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645920"/>
            <a:ext cx="20116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64592"/>
          <a:lstStyle/>
          <a:p>
            <a:pPr algn="ctr">
              <a:defRPr sz="1100" b="1">
                <a:solidFill>
                  <a:srgbClr val="48CAE4"/>
                </a:solidFill>
                <a:latin typeface="Arial"/>
              </a:defRPr>
            </a:pPr>
            <a:r>
              <a:t>Step 3: AI/ML Inference</a:t>
            </a:r>
          </a:p>
          <a:p>
            <a:pPr>
              <a:spcBef>
                <a:spcPts val="8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• Gradient Boosted Ensemble evaluates stiffness (kPa)</a:t>
            </a:r>
          </a:p>
          <a:p>
            <a:pPr>
              <a:spcBef>
                <a:spcPts val="8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• METAVIR staging (F0-F4) &amp; Steatosis grading (S0-S3)</a:t>
            </a:r>
          </a:p>
          <a:p>
            <a:pPr>
              <a:spcBef>
                <a:spcPts val="8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• TreeSHAP computes risk driver attributions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645920"/>
            <a:ext cx="20116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64592"/>
          <a:lstStyle/>
          <a:p>
            <a:pPr algn="ctr">
              <a:defRPr sz="1100" b="1">
                <a:solidFill>
                  <a:srgbClr val="48CAE4"/>
                </a:solidFill>
                <a:latin typeface="Arial"/>
              </a:defRPr>
            </a:pPr>
            <a:r>
              <a:t>Step 4: Dynamic Trajectory</a:t>
            </a:r>
          </a:p>
          <a:p>
            <a:pPr>
              <a:spcBef>
                <a:spcPts val="8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• Autoregressive drift updates in &lt;50ms</a:t>
            </a:r>
          </a:p>
          <a:p>
            <a:pPr>
              <a:spcBef>
                <a:spcPts val="8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• 12 to 60-month projection with 80%/95% Bayes CI</a:t>
            </a:r>
          </a:p>
          <a:p>
            <a:pPr>
              <a:spcBef>
                <a:spcPts val="8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• Counterfactual simulations on lifestyle modification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645920"/>
            <a:ext cx="2011680" cy="438912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90E0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164592"/>
          <a:lstStyle/>
          <a:p>
            <a:pPr algn="ctr">
              <a:defRPr sz="1100" b="1">
                <a:solidFill>
                  <a:srgbClr val="48CAE4"/>
                </a:solidFill>
                <a:latin typeface="Arial"/>
              </a:defRPr>
            </a:pPr>
            <a:r>
              <a:t>Step 5: Clinical Routing</a:t>
            </a:r>
          </a:p>
          <a:p>
            <a:pPr>
              <a:spcBef>
                <a:spcPts val="8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• Clinician Portal: Couinaud anatomical liver &amp; FIB-4</a:t>
            </a:r>
          </a:p>
          <a:p>
            <a:pPr>
              <a:spcBef>
                <a:spcPts val="8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• Patient Portal: Plain-language Indian diet &amp; Awareness</a:t>
            </a:r>
          </a:p>
          <a:p>
            <a:pPr>
              <a:spcBef>
                <a:spcPts val="800"/>
              </a:spcBef>
              <a:defRPr sz="850">
                <a:solidFill>
                  <a:srgbClr val="FFFFFF"/>
                </a:solidFill>
                <a:latin typeface="Arial"/>
              </a:defRPr>
            </a:pPr>
            <a:r>
              <a:t>• Urgent CDS Alerts: FibroScan / Endoscopy referrals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solidFill>
              <a:srgbClr val="0B13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8CAE4"/>
                </a:solidFill>
                <a:latin typeface="Arial"/>
              </a:defRPr>
            </a:pPr>
            <a:r>
              <a:t>4. Indian Clinical Context &amp; DPDP Act 2023 Compliance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52B788"/>
                </a:solidFill>
                <a:latin typeface="Arial"/>
              </a:defRPr>
            </a:pPr>
            <a:r>
              <a:t>Indian Clinical Dietary Engine (ICMR / INASL)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+Add Therapeutic Indian Foods: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Haldi (Curcumin): Potent antioxidant halting hepatic stellate cell activation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Amla (Indian Gooseberry): Rich in Vitamin C, boosts hepatic glutathione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Methi (Fenugreek seeds): Improves insulin sensitivity &amp; glucose control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Moringa &amp; Moong Dal: Readily digestible bioavailable protein without ammonia load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−Subtract Harmful Indian Staples: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Vanaspati &amp; Dalda: Industrial trans-fats exacerbating steatohepatitis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Fried street snacks (Samosas, Pakoras): Lipid peroxidation surge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Refined sweets (Mithai): High fructose de novo lipogenesis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Achaar &amp; Papad: High sodium causing fluid retention &amp; portal hypertension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Strict Hepatitis Abstinence Protocol: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Zero alcohol, Paracetamol warning (&lt;2g/day), avoidance of unregulated herbal powders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371600"/>
            <a:ext cx="5212080" cy="4754880"/>
          </a:xfrm>
          <a:prstGeom prst="roundRect">
            <a:avLst/>
          </a:prstGeom>
          <a:solidFill>
            <a:srgbClr val="1C2541"/>
          </a:solidFill>
          <a:ln w="19050">
            <a:solidFill>
              <a:srgbClr val="EF23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400" b="1">
                <a:solidFill>
                  <a:srgbClr val="EF233C"/>
                </a:solidFill>
                <a:latin typeface="Arial"/>
              </a:defRPr>
            </a:pPr>
            <a:r>
              <a:t>DPDP Act 2023 &amp; Security Architecture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Digital Personal Data Protection (DPDP) Act 2023 Compliance: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- 1-Click Privacy Toggle: Redacts patient name, contact, and ID instantaneously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Zero-Knowledge Boundary: Raw personal identifiers remain in browser memory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Synthetic Cohorts: 3 deterministic Indian clinical personas for training &amp; validation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Patient Moral &amp; Physical Awareness Guide: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Liver Regeneration Science: Educates patients that 70% of hepatocytes can regrow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Destigmatization: Hepatitis B/C are medical infections, not moral failures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Household Barriers: Safe sharing of food/utensils; separate razors/nail clippers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Vaccination Hub: Tracking Hepatitis A &amp; B vaccine completion for family protection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• ABDM / Ayushman Bharat Digital Mission Compatibility:</a:t>
            </a:r>
          </a:p>
          <a:p>
            <a:pPr>
              <a:spcBef>
                <a:spcPts val="400"/>
              </a:spcBef>
              <a:defRPr sz="900">
                <a:solidFill>
                  <a:srgbClr val="FFFFFF"/>
                </a:solidFill>
                <a:latin typeface="Arial"/>
              </a:defRPr>
            </a:pPr>
            <a:r>
              <a:t>  - FHIR / HL7 compliant biomarker schemas ready for Indian national health stack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